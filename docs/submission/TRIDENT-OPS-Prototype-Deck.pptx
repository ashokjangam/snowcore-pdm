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Manrope SemiBold"/>
      <p:regular r:id="rId12"/>
      <p:bold r:id="rId13"/>
    </p:embeddedFont>
    <p:embeddedFont>
      <p:font typeface="Manrope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font" Target="fonts/ManropeSemiBold-regular.fntdata"/><Relationship Id="rId13" Type="http://schemas.openxmlformats.org/officeDocument/2006/relationships/font" Target="fonts/ManropeSemiBold-bold.fntdata"/><Relationship Id="rId14" Type="http://schemas.openxmlformats.org/officeDocument/2006/relationships/font" Target="fonts/Manrope-regular.fntdata"/><Relationship Id="rId15" Type="http://schemas.openxmlformats.org/officeDocument/2006/relationships/font" Target="fonts/Manrope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hyperlink" Target="https://hack2skill.com/event/cococlihack-gccedition/dashboard/team-management?utm_source=hack2skill&amp;utm_medium=homepage" TargetMode="External"/><Relationship Id="rId5" Type="http://schemas.openxmlformats.org/officeDocument/2006/relationships/hyperlink" Target="https://www.linkedin.com/in/jangam-ashok-53a95812b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hyperlink" Target="https://app.snowflake.com/streamlit/FMXJOWH/BRC04642/#/apps/bd2ocwt4eblddojvzl7v" TargetMode="External"/><Relationship Id="rId5" Type="http://schemas.openxmlformats.org/officeDocument/2006/relationships/hyperlink" Target="https://github.com/ashokjangam/snowcore-pdm/tree/feat/tridents-op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Framexexexe 23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TextBox 54"/>
          <p:cNvSpPr txBox="1"/>
          <p:nvPr/>
        </p:nvSpPr>
        <p:spPr>
          <a:xfrm>
            <a:off x="6144768" y="2999232"/>
            <a:ext cx="254203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900" b="1">
                <a:solidFill>
                  <a:srgbClr val="0A5CA8"/>
                </a:solidFill>
                <a:latin typeface="Cambria"/>
              </a:rPr>
              <a:t>TRIDENT OPS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53912" y="3456432"/>
            <a:ext cx="2505456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0C1822"/>
                </a:solidFill>
                <a:latin typeface="Calibri"/>
              </a:rPr>
              <a:t>EVIDENCE-FIRST PREDICTIVE MAINTENANCE + OEE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8912" y="3145536"/>
            <a:ext cx="512064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300" b="1">
                <a:solidFill>
                  <a:srgbClr val="0C1822"/>
                </a:solidFill>
                <a:latin typeface="Calibri"/>
              </a:rPr>
              <a:t>Team Name: </a:t>
            </a:r>
            <a:r>
              <a:rPr sz="1300" b="1">
                <a:solidFill>
                  <a:srgbClr val="0A5CA8"/>
                </a:solidFill>
                <a:latin typeface="Calibri"/>
                <a:hlinkClick r:id="rId4"/>
              </a:rPr>
              <a:t>TRidents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8912" y="3493008"/>
            <a:ext cx="512064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300" b="1">
                <a:solidFill>
                  <a:srgbClr val="0C1822"/>
                </a:solidFill>
                <a:latin typeface="Calibri"/>
              </a:rPr>
              <a:t>Team Leader: </a:t>
            </a:r>
            <a:r>
              <a:rPr sz="1300" b="1">
                <a:solidFill>
                  <a:srgbClr val="0A5CA8"/>
                </a:solidFill>
                <a:latin typeface="Calibri"/>
                <a:hlinkClick r:id="rId5"/>
              </a:rPr>
              <a:t>Ashok Jangam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8912" y="3840480"/>
            <a:ext cx="51206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0C1822"/>
                </a:solidFill>
                <a:latin typeface="Calibri"/>
              </a:rPr>
              <a:t>Team Size: 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8912" y="4187952"/>
            <a:ext cx="8183879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0C1822"/>
                </a:solidFill>
                <a:latin typeface="Calibri"/>
              </a:rPr>
              <a:t>Problem Statement: Predictive Maintenance and OEE Command Center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8912" y="4617720"/>
            <a:ext cx="8183879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0A5CA8"/>
                </a:solidFill>
                <a:latin typeface="Calibri"/>
              </a:rPr>
              <a:t>Two evidence lanes. One auditable decision path. Zero fabricated joins.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TextBox 63"/>
          <p:cNvSpPr txBox="1"/>
          <p:nvPr/>
        </p:nvSpPr>
        <p:spPr>
          <a:xfrm>
            <a:off x="438912" y="457200"/>
            <a:ext cx="493776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31D7C5"/>
                </a:solidFill>
                <a:latin typeface="Calibri"/>
              </a:rPr>
              <a:t>01 · PROBLEM BRIEF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20624" y="694944"/>
            <a:ext cx="81381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0C1822"/>
                </a:solidFill>
                <a:latin typeface="Cambria"/>
              </a:rPr>
              <a:t>The gap isn't a model. It's a missing thread.</a:t>
            </a:r>
          </a:p>
        </p:txBody>
      </p:sp>
      <p:sp>
        <p:nvSpPr>
          <p:cNvPr id="66" name="Oval 65"/>
          <p:cNvSpPr/>
          <p:nvPr/>
        </p:nvSpPr>
        <p:spPr>
          <a:xfrm>
            <a:off x="594360" y="1417320"/>
            <a:ext cx="2057400" cy="2057400"/>
          </a:xfrm>
          <a:prstGeom prst="ellipse">
            <a:avLst/>
          </a:prstGeom>
          <a:solidFill>
            <a:srgbClr val="102C3A"/>
          </a:solidFill>
          <a:ln w="17780">
            <a:solidFill>
              <a:srgbClr val="31D7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69848" y="1719072"/>
            <a:ext cx="10972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200" b="1">
                <a:solidFill>
                  <a:srgbClr val="31D7C5"/>
                </a:solidFill>
                <a:latin typeface="Calibri"/>
              </a:rPr>
              <a:t>PIADE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59536" y="2103120"/>
            <a:ext cx="1536192" cy="7680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F4FAFD"/>
                </a:solidFill>
                <a:latin typeface="Calibri"/>
              </a:rPr>
              <a:t>Real line states
alarms + package counts
weighted OEE</a:t>
            </a:r>
          </a:p>
        </p:txBody>
      </p:sp>
      <p:sp>
        <p:nvSpPr>
          <p:cNvPr id="69" name="Oval 68"/>
          <p:cNvSpPr/>
          <p:nvPr/>
        </p:nvSpPr>
        <p:spPr>
          <a:xfrm>
            <a:off x="6473952" y="1417320"/>
            <a:ext cx="2057400" cy="2057400"/>
          </a:xfrm>
          <a:prstGeom prst="ellipse">
            <a:avLst/>
          </a:prstGeom>
          <a:solidFill>
            <a:srgbClr val="2E2513"/>
          </a:solidFill>
          <a:ln w="17780">
            <a:solidFill>
              <a:srgbClr val="F2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839712" y="1719072"/>
            <a:ext cx="13258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200" b="1">
                <a:solidFill>
                  <a:srgbClr val="F2B84B"/>
                </a:solidFill>
                <a:latin typeface="Calibri"/>
              </a:rPr>
              <a:t>MetroPT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711696" y="2103120"/>
            <a:ext cx="1600200" cy="7680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F4FAFD"/>
                </a:solidFill>
                <a:latin typeface="Calibri"/>
              </a:rPr>
              <a:t>Real compressor sensors
+ failure windows
no production counts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182112" y="1609344"/>
            <a:ext cx="2788920" cy="1627632"/>
          </a:xfrm>
          <a:prstGeom prst="rect">
            <a:avLst/>
          </a:prstGeom>
          <a:solidFill>
            <a:srgbClr val="1A1D22"/>
          </a:solidFill>
          <a:ln w="12700">
            <a:solidFill>
              <a:srgbClr val="EF6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703320" y="1856231"/>
            <a:ext cx="1737360" cy="6217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100" b="1">
                <a:solidFill>
                  <a:srgbClr val="EF6A72"/>
                </a:solidFill>
                <a:latin typeface="Calibri"/>
              </a:rPr>
              <a:t>NO-JOIN
FIREWALL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502152" y="2615184"/>
            <a:ext cx="21488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00" b="0">
                <a:solidFill>
                  <a:srgbClr val="A5B7C3"/>
                </a:solidFill>
                <a:latin typeface="Calibri"/>
              </a:rPr>
              <a:t>different plants · no shared key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5800" y="3730752"/>
            <a:ext cx="16459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31D7C5"/>
                </a:solidFill>
                <a:latin typeface="Calibri"/>
              </a:rPr>
              <a:t>The honest product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103120" y="3621024"/>
            <a:ext cx="6446520" cy="6035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1">
                <a:solidFill>
                  <a:srgbClr val="0C1822"/>
                </a:solidFill>
                <a:latin typeface="Calibri"/>
              </a:rPr>
              <a:t>PIADE drives OEE, ownership and next-hour ranking. MetroPT remains a separate sensor-evidence lane labelled detection—not forecast.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38912" y="4855464"/>
            <a:ext cx="822960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00" b="0">
                <a:solidFill>
                  <a:srgbClr val="667D8C"/>
                </a:solidFill>
                <a:latin typeface="Calibri"/>
              </a:rPr>
              <a:t>Sources: PIADE DOI 10.5281/zenodo.7071747 · MetroPT-3 DOI 10.24432/C5VW3R · both public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TextBox 69"/>
          <p:cNvSpPr txBox="1"/>
          <p:nvPr/>
        </p:nvSpPr>
        <p:spPr>
          <a:xfrm>
            <a:off x="438912" y="457200"/>
            <a:ext cx="493776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31D7C5"/>
                </a:solidFill>
                <a:latin typeface="Calibri"/>
              </a:rPr>
              <a:t>02 · ARCHITECTURE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20624" y="694944"/>
            <a:ext cx="81381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0C1822"/>
                </a:solidFill>
                <a:latin typeface="Cambria"/>
              </a:rPr>
              <a:t>One console. Two databases. Three working tines.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75488" y="1371600"/>
            <a:ext cx="1508760" cy="1024128"/>
          </a:xfrm>
          <a:prstGeom prst="roundRect">
            <a:avLst/>
          </a:prstGeom>
          <a:solidFill>
            <a:srgbClr val="102C3A"/>
          </a:solidFill>
          <a:ln w="12700">
            <a:solidFill>
              <a:srgbClr val="294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85800" y="1572768"/>
            <a:ext cx="10972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31D7C5"/>
                </a:solidFill>
                <a:latin typeface="Calibri"/>
              </a:rPr>
              <a:t>PIADE CSV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30936" y="1911095"/>
            <a:ext cx="120700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00" b="0">
                <a:solidFill>
                  <a:srgbClr val="A5B7C3"/>
                </a:solidFill>
                <a:latin typeface="Calibri"/>
              </a:rPr>
              <a:t>states · alarms · counts</a:t>
            </a:r>
          </a:p>
        </p:txBody>
      </p:sp>
      <p:sp>
        <p:nvSpPr>
          <p:cNvPr id="75" name="Chevron 74"/>
          <p:cNvSpPr/>
          <p:nvPr/>
        </p:nvSpPr>
        <p:spPr>
          <a:xfrm>
            <a:off x="2103120" y="1773936"/>
            <a:ext cx="329184" cy="219456"/>
          </a:xfrm>
          <a:prstGeom prst="chevron">
            <a:avLst/>
          </a:prstGeom>
          <a:solidFill>
            <a:srgbClr val="36A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2578608" y="1243584"/>
            <a:ext cx="1965960" cy="1298448"/>
          </a:xfrm>
          <a:prstGeom prst="roundRect">
            <a:avLst/>
          </a:prstGeom>
          <a:solidFill>
            <a:srgbClr val="122431"/>
          </a:solidFill>
          <a:ln w="12700">
            <a:solidFill>
              <a:srgbClr val="294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788920" y="1481328"/>
            <a:ext cx="1536192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36A9E1"/>
                </a:solidFill>
                <a:latin typeface="Calibri"/>
              </a:rPr>
              <a:t>SNOWCORE_REAL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770632" y="1856231"/>
            <a:ext cx="16002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00" b="0">
                <a:solidFill>
                  <a:srgbClr val="A5B7C3"/>
                </a:solidFill>
                <a:latin typeface="Calibri"/>
              </a:rPr>
              <a:t>BRONZE → SILVER → GOLD → ML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75488" y="3127248"/>
            <a:ext cx="1508760" cy="1024128"/>
          </a:xfrm>
          <a:prstGeom prst="roundRect">
            <a:avLst/>
          </a:prstGeom>
          <a:solidFill>
            <a:srgbClr val="2E2513"/>
          </a:solidFill>
          <a:ln w="12700">
            <a:solidFill>
              <a:srgbClr val="294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85800" y="3346704"/>
            <a:ext cx="10972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F2B84B"/>
                </a:solidFill>
                <a:latin typeface="Calibri"/>
              </a:rPr>
              <a:t>MetroPT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30936" y="3685032"/>
            <a:ext cx="120700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00" b="0">
                <a:solidFill>
                  <a:srgbClr val="A5B7C3"/>
                </a:solidFill>
                <a:latin typeface="Calibri"/>
              </a:rPr>
              <a:t>pressure · current · load</a:t>
            </a:r>
          </a:p>
        </p:txBody>
      </p:sp>
      <p:sp>
        <p:nvSpPr>
          <p:cNvPr id="82" name="Chevron 81"/>
          <p:cNvSpPr/>
          <p:nvPr/>
        </p:nvSpPr>
        <p:spPr>
          <a:xfrm>
            <a:off x="2103120" y="3529584"/>
            <a:ext cx="329184" cy="219456"/>
          </a:xfrm>
          <a:prstGeom prst="chevron">
            <a:avLst/>
          </a:prstGeom>
          <a:solidFill>
            <a:srgbClr val="F2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2578608" y="2999232"/>
            <a:ext cx="1965960" cy="1298448"/>
          </a:xfrm>
          <a:prstGeom prst="roundRect">
            <a:avLst/>
          </a:prstGeom>
          <a:solidFill>
            <a:srgbClr val="282316"/>
          </a:solidFill>
          <a:ln w="12700">
            <a:solidFill>
              <a:srgbClr val="294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788920" y="3236976"/>
            <a:ext cx="1536192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F2B84B"/>
                </a:solidFill>
                <a:latin typeface="Calibri"/>
              </a:rPr>
              <a:t>PNEUMORA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770632" y="3611880"/>
            <a:ext cx="16002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00" b="0">
                <a:solidFill>
                  <a:srgbClr val="A5B7C3"/>
                </a:solidFill>
                <a:latin typeface="Calibri"/>
              </a:rPr>
              <a:t>CORE → ML → evidence</a:t>
            </a:r>
          </a:p>
        </p:txBody>
      </p:sp>
      <p:sp>
        <p:nvSpPr>
          <p:cNvPr id="86" name="Chevron 85"/>
          <p:cNvSpPr/>
          <p:nvPr/>
        </p:nvSpPr>
        <p:spPr>
          <a:xfrm>
            <a:off x="4718304" y="2176272"/>
            <a:ext cx="384048" cy="237744"/>
          </a:xfrm>
          <a:prstGeom prst="chevron">
            <a:avLst/>
          </a:prstGeom>
          <a:solidFill>
            <a:srgbClr val="36A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Chevron 86"/>
          <p:cNvSpPr/>
          <p:nvPr/>
        </p:nvSpPr>
        <p:spPr>
          <a:xfrm>
            <a:off x="4718304" y="2999232"/>
            <a:ext cx="384048" cy="237744"/>
          </a:xfrm>
          <a:prstGeom prst="chevron">
            <a:avLst/>
          </a:prstGeom>
          <a:solidFill>
            <a:srgbClr val="F2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5266944" y="1335024"/>
            <a:ext cx="3364992" cy="2761488"/>
          </a:xfrm>
          <a:prstGeom prst="roundRect">
            <a:avLst/>
          </a:prstGeom>
          <a:solidFill>
            <a:srgbClr val="0E2029"/>
          </a:solidFill>
          <a:ln w="12700">
            <a:solidFill>
              <a:srgbClr val="31D7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486400" y="1554480"/>
            <a:ext cx="2926080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200" b="1">
                <a:solidFill>
                  <a:srgbClr val="F4FAFD"/>
                </a:solidFill>
                <a:latin typeface="Calibri"/>
              </a:rPr>
              <a:t>TRIDENT OPS</a:t>
            </a:r>
          </a:p>
        </p:txBody>
      </p:sp>
      <p:sp>
        <p:nvSpPr>
          <p:cNvPr id="90" name="Oval 89"/>
          <p:cNvSpPr/>
          <p:nvPr/>
        </p:nvSpPr>
        <p:spPr>
          <a:xfrm>
            <a:off x="5504688" y="2212848"/>
            <a:ext cx="804672" cy="804672"/>
          </a:xfrm>
          <a:prstGeom prst="ellipse">
            <a:avLst/>
          </a:prstGeom>
          <a:solidFill>
            <a:srgbClr val="122431"/>
          </a:solidFill>
          <a:ln w="17780">
            <a:solidFill>
              <a:srgbClr val="36A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532120" y="2450592"/>
            <a:ext cx="749808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00" b="1">
                <a:solidFill>
                  <a:srgbClr val="36A9E1"/>
                </a:solidFill>
                <a:latin typeface="Calibri"/>
              </a:rPr>
              <a:t>COMPUTE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449824" y="3127248"/>
            <a:ext cx="9144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00" b="0">
                <a:solidFill>
                  <a:srgbClr val="A5B7C3"/>
                </a:solidFill>
                <a:latin typeface="Calibri"/>
              </a:rPr>
              <a:t>OEE + baseline</a:t>
            </a:r>
          </a:p>
        </p:txBody>
      </p:sp>
      <p:sp>
        <p:nvSpPr>
          <p:cNvPr id="93" name="Oval 92"/>
          <p:cNvSpPr/>
          <p:nvPr/>
        </p:nvSpPr>
        <p:spPr>
          <a:xfrm>
            <a:off x="6492240" y="2212848"/>
            <a:ext cx="804672" cy="804672"/>
          </a:xfrm>
          <a:prstGeom prst="ellipse">
            <a:avLst/>
          </a:prstGeom>
          <a:solidFill>
            <a:srgbClr val="122431"/>
          </a:solidFill>
          <a:ln w="17780">
            <a:solidFill>
              <a:srgbClr val="31D7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519672" y="2450592"/>
            <a:ext cx="749808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00" b="1">
                <a:solidFill>
                  <a:srgbClr val="31D7C5"/>
                </a:solidFill>
                <a:latin typeface="Calibri"/>
              </a:rPr>
              <a:t>EXPLAIN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437376" y="3127248"/>
            <a:ext cx="9144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00" b="0">
                <a:solidFill>
                  <a:srgbClr val="A5B7C3"/>
                </a:solidFill>
                <a:latin typeface="Calibri"/>
              </a:rPr>
              <a:t>bounded Cortex</a:t>
            </a:r>
          </a:p>
        </p:txBody>
      </p:sp>
      <p:sp>
        <p:nvSpPr>
          <p:cNvPr id="96" name="Oval 95"/>
          <p:cNvSpPr/>
          <p:nvPr/>
        </p:nvSpPr>
        <p:spPr>
          <a:xfrm>
            <a:off x="7479792" y="2212848"/>
            <a:ext cx="804672" cy="804672"/>
          </a:xfrm>
          <a:prstGeom prst="ellipse">
            <a:avLst/>
          </a:prstGeom>
          <a:solidFill>
            <a:srgbClr val="122431"/>
          </a:solidFill>
          <a:ln w="17780">
            <a:solidFill>
              <a:srgbClr val="F2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07223" y="2450592"/>
            <a:ext cx="749808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00" b="1">
                <a:solidFill>
                  <a:srgbClr val="F2B84B"/>
                </a:solidFill>
                <a:latin typeface="Calibri"/>
              </a:rPr>
              <a:t>ACT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424927" y="3127248"/>
            <a:ext cx="9144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00" b="0">
                <a:solidFill>
                  <a:srgbClr val="A5B7C3"/>
                </a:solidFill>
                <a:latin typeface="Calibri"/>
              </a:rPr>
              <a:t>idempotent row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577840" y="3703320"/>
            <a:ext cx="2743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00" b="1">
                <a:solidFill>
                  <a:srgbClr val="31D7C5"/>
                </a:solidFill>
                <a:latin typeface="Calibri"/>
              </a:rPr>
              <a:t>TRIDENT_OPS.OPS.TRIAGE_ACTION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38912" y="4855464"/>
            <a:ext cx="822960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00" b="0">
                <a:solidFill>
                  <a:srgbClr val="667D8C"/>
                </a:solidFill>
                <a:latin typeface="Calibri"/>
              </a:rPr>
              <a:t>Snowflake: warehouse Streamlit · Snowpark SQL procedures · AI_COMPLETE · governed views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TextBox 74"/>
          <p:cNvSpPr txBox="1"/>
          <p:nvPr/>
        </p:nvSpPr>
        <p:spPr>
          <a:xfrm>
            <a:off x="438912" y="457200"/>
            <a:ext cx="493776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31D7C5"/>
                </a:solidFill>
                <a:latin typeface="Calibri"/>
              </a:rPr>
              <a:t>03 · MEASURED IMPACT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20624" y="694944"/>
            <a:ext cx="81381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0C1822"/>
                </a:solidFill>
                <a:latin typeface="Cambria"/>
              </a:rPr>
              <a:t>Evidence before ego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02920" y="1353312"/>
            <a:ext cx="2514600" cy="1325880"/>
          </a:xfrm>
          <a:prstGeom prst="roundRect">
            <a:avLst/>
          </a:prstGeom>
          <a:solidFill>
            <a:srgbClr val="122431"/>
          </a:solidFill>
          <a:ln w="12700">
            <a:solidFill>
              <a:srgbClr val="294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9224" y="1463040"/>
            <a:ext cx="2221992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600" b="1">
                <a:solidFill>
                  <a:srgbClr val="31D7C5"/>
                </a:solidFill>
                <a:latin typeface="Calibri"/>
              </a:rPr>
              <a:t>46.78%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9224" y="1892807"/>
            <a:ext cx="222199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F4FAFD"/>
                </a:solidFill>
                <a:latin typeface="Calibri"/>
              </a:rPr>
              <a:t>PIADE weighted OEE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9224" y="2157984"/>
            <a:ext cx="2221992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A5B7C3"/>
                </a:solidFill>
                <a:latin typeface="Calibri"/>
              </a:rPr>
              <a:t>A 64.32% × P 72.93% × Q 99.72%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310128" y="1353312"/>
            <a:ext cx="2514600" cy="1325880"/>
          </a:xfrm>
          <a:prstGeom prst="roundRect">
            <a:avLst/>
          </a:prstGeom>
          <a:solidFill>
            <a:srgbClr val="122431"/>
          </a:solidFill>
          <a:ln w="12700">
            <a:solidFill>
              <a:srgbClr val="294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456432" y="1463040"/>
            <a:ext cx="2221992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600" b="1">
                <a:solidFill>
                  <a:srgbClr val="36A9E1"/>
                </a:solidFill>
                <a:latin typeface="Calibri"/>
              </a:rPr>
              <a:t>76.4%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456432" y="1892807"/>
            <a:ext cx="222199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F4FAFD"/>
                </a:solidFill>
                <a:latin typeface="Calibri"/>
              </a:rPr>
              <a:t>Blind top-decile precision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56432" y="2157984"/>
            <a:ext cx="2221992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A5B7C3"/>
                </a:solidFill>
                <a:latin typeface="Calibri"/>
              </a:rPr>
              <a:t>Persistence baseline 62.4%; archived Dec-2021 holdout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117336" y="1353312"/>
            <a:ext cx="2514600" cy="1325880"/>
          </a:xfrm>
          <a:prstGeom prst="roundRect">
            <a:avLst/>
          </a:prstGeom>
          <a:solidFill>
            <a:srgbClr val="122431"/>
          </a:solidFill>
          <a:ln w="12700">
            <a:solidFill>
              <a:srgbClr val="294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263640" y="1463040"/>
            <a:ext cx="2221992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600" b="1">
                <a:solidFill>
                  <a:srgbClr val="F2B84B"/>
                </a:solidFill>
                <a:latin typeface="Calibri"/>
              </a:rPr>
              <a:t>+72 / +86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263640" y="1892807"/>
            <a:ext cx="222199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F4FAFD"/>
                </a:solidFill>
                <a:latin typeface="Calibri"/>
              </a:rPr>
              <a:t>MetroPT external timing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263640" y="2157984"/>
            <a:ext cx="2221992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A5B7C3"/>
                </a:solidFill>
                <a:latin typeface="Calibri"/>
              </a:rPr>
              <a:t>minutes after leak onset · NO PROMOTION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66928" y="2990088"/>
            <a:ext cx="28346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0C1822"/>
                </a:solidFill>
                <a:latin typeface="Calibri"/>
              </a:rPr>
              <a:t>What changed because of the model?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66928" y="3346704"/>
            <a:ext cx="2560320" cy="7498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EF6A72"/>
                </a:solidFill>
                <a:latin typeface="Calibri"/>
              </a:rPr>
              <a:t>Not yet measured. OEE lift and realised savings require intervention data.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310128" y="2990088"/>
            <a:ext cx="2523744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0C1822"/>
                </a:solidFill>
                <a:latin typeface="Calibri"/>
              </a:rPr>
              <a:t>What did automation prove?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310128" y="3346704"/>
            <a:ext cx="2523744" cy="7498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B07400"/>
                </a:solidFill>
                <a:latin typeface="Calibri"/>
              </a:rPr>
              <a:t>45 replay orders · 35.6% hit rate · 1.26× random timing · 23% coverage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126480" y="2990088"/>
            <a:ext cx="245059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0C1822"/>
                </a:solidFill>
                <a:latin typeface="Calibri"/>
              </a:rPr>
              <a:t>What did search teach us?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126480" y="3346704"/>
            <a:ext cx="2450592" cy="7498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087F72"/>
                </a:solidFill>
                <a:latin typeface="Calibri"/>
              </a:rPr>
              <a:t>25 trials improved validation AUC by 0.0001. Missing signal—not another model—is the ceiling.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38912" y="4855464"/>
            <a:ext cx="822960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00" b="0">
                <a:solidFill>
                  <a:srgbClr val="667D8C"/>
                </a:solidFill>
                <a:latin typeface="Calibri"/>
              </a:rPr>
              <a:t>Every number is Observed, Derived, Model, Scenario or Operator-entered · no unlabelled financial claim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7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TextBox 79"/>
          <p:cNvSpPr txBox="1"/>
          <p:nvPr/>
        </p:nvSpPr>
        <p:spPr>
          <a:xfrm>
            <a:off x="438912" y="457200"/>
            <a:ext cx="493776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31D7C5"/>
                </a:solidFill>
                <a:latin typeface="Calibri"/>
              </a:rPr>
              <a:t>04 · END-TO-END COCO CLI WORKFLOW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20624" y="694944"/>
            <a:ext cx="81381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0C1822"/>
                </a:solidFill>
                <a:latin typeface="Cambria"/>
              </a:rPr>
              <a:t>The 4-minute proof: compute → explain → act</a:t>
            </a:r>
          </a:p>
        </p:txBody>
      </p:sp>
      <p:sp>
        <p:nvSpPr>
          <p:cNvPr id="82" name="Oval 81"/>
          <p:cNvSpPr/>
          <p:nvPr/>
        </p:nvSpPr>
        <p:spPr>
          <a:xfrm>
            <a:off x="566928" y="1517904"/>
            <a:ext cx="621792" cy="621792"/>
          </a:xfrm>
          <a:prstGeom prst="ellipse">
            <a:avLst/>
          </a:prstGeom>
          <a:solidFill>
            <a:srgbClr val="36A9E1"/>
          </a:solidFill>
          <a:ln w="17780">
            <a:solidFill>
              <a:srgbClr val="36A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66928" y="1664208"/>
            <a:ext cx="62179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700" b="1">
                <a:solidFill>
                  <a:srgbClr val="0C1822"/>
                </a:solidFill>
                <a:latin typeface="Calibri"/>
              </a:rPr>
              <a:t>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353312" y="1572768"/>
            <a:ext cx="15544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1">
                <a:solidFill>
                  <a:srgbClr val="36A9E1"/>
                </a:solidFill>
                <a:latin typeface="Calibri"/>
              </a:rPr>
              <a:t>COMPUTE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66928" y="2377440"/>
            <a:ext cx="2350008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0">
                <a:solidFill>
                  <a:srgbClr val="0C1822"/>
                </a:solidFill>
                <a:latin typeface="Calibri"/>
              </a:rPr>
              <a:t>CoCo queries weighted OEE and ownership.
Streamlit shows the same deterministic row.</a:t>
            </a:r>
          </a:p>
        </p:txBody>
      </p:sp>
      <p:sp>
        <p:nvSpPr>
          <p:cNvPr id="86" name="Chevron 85"/>
          <p:cNvSpPr/>
          <p:nvPr/>
        </p:nvSpPr>
        <p:spPr>
          <a:xfrm>
            <a:off x="2953512" y="1847088"/>
            <a:ext cx="292608" cy="201168"/>
          </a:xfrm>
          <a:prstGeom prst="chevron">
            <a:avLst/>
          </a:prstGeom>
          <a:solidFill>
            <a:srgbClr val="36A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401568" y="1517904"/>
            <a:ext cx="621792" cy="621792"/>
          </a:xfrm>
          <a:prstGeom prst="ellipse">
            <a:avLst/>
          </a:prstGeom>
          <a:solidFill>
            <a:srgbClr val="31D7C5"/>
          </a:solidFill>
          <a:ln w="17780">
            <a:solidFill>
              <a:srgbClr val="31D7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401568" y="1664208"/>
            <a:ext cx="62179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700" b="1">
                <a:solidFill>
                  <a:srgbClr val="0C1822"/>
                </a:solidFill>
                <a:latin typeface="Calibri"/>
              </a:rPr>
              <a:t>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187952" y="1572768"/>
            <a:ext cx="15544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1">
                <a:solidFill>
                  <a:srgbClr val="31D7C5"/>
                </a:solidFill>
                <a:latin typeface="Calibri"/>
              </a:rPr>
              <a:t>EXPLAIN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401568" y="2377440"/>
            <a:ext cx="2350008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0">
                <a:solidFill>
                  <a:srgbClr val="0C1822"/>
                </a:solidFill>
                <a:latin typeface="Calibri"/>
              </a:rPr>
              <a:t>Five alarm-pattern rows go to Cortex.
The answer cites codes and states what is unknown.</a:t>
            </a:r>
          </a:p>
        </p:txBody>
      </p:sp>
      <p:sp>
        <p:nvSpPr>
          <p:cNvPr id="91" name="Chevron 90"/>
          <p:cNvSpPr/>
          <p:nvPr/>
        </p:nvSpPr>
        <p:spPr>
          <a:xfrm>
            <a:off x="5788152" y="1847088"/>
            <a:ext cx="292608" cy="201168"/>
          </a:xfrm>
          <a:prstGeom prst="chevron">
            <a:avLst/>
          </a:prstGeom>
          <a:solidFill>
            <a:srgbClr val="31D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6236208" y="1517904"/>
            <a:ext cx="621792" cy="621792"/>
          </a:xfrm>
          <a:prstGeom prst="ellipse">
            <a:avLst/>
          </a:prstGeom>
          <a:solidFill>
            <a:srgbClr val="F2B84B"/>
          </a:solidFill>
          <a:ln w="17780">
            <a:solidFill>
              <a:srgbClr val="F2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236208" y="1664208"/>
            <a:ext cx="62179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700" b="1">
                <a:solidFill>
                  <a:srgbClr val="0C1822"/>
                </a:solidFill>
                <a:latin typeface="Calibri"/>
              </a:rPr>
              <a:t>3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022592" y="1572768"/>
            <a:ext cx="15544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1">
                <a:solidFill>
                  <a:srgbClr val="F2B84B"/>
                </a:solidFill>
                <a:latin typeface="Calibri"/>
              </a:rPr>
              <a:t>ACT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236208" y="2377440"/>
            <a:ext cx="2350008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0">
                <a:solidFill>
                  <a:srgbClr val="0C1822"/>
                </a:solidFill>
                <a:latin typeface="Calibri"/>
              </a:rPr>
              <a:t>The operator opens an inspection.
A Snowflake MERGE writes one reload-safe action.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960120" y="3803904"/>
            <a:ext cx="7223760" cy="566928"/>
          </a:xfrm>
          <a:prstGeom prst="roundRect">
            <a:avLst/>
          </a:prstGeom>
          <a:solidFill>
            <a:srgbClr val="151F26"/>
          </a:solidFill>
          <a:ln w="12700">
            <a:solidFill>
              <a:srgbClr val="294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170432" y="3968496"/>
            <a:ext cx="1298448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31D7C5"/>
                </a:solidFill>
                <a:latin typeface="Calibri"/>
              </a:rPr>
              <a:t>BLACK-BOX RESULT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542032" y="3913632"/>
            <a:ext cx="52578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F4FAFD"/>
                </a:solidFill>
                <a:latin typeface="Calibri"/>
              </a:rPr>
              <a:t>same input → same action id → second run deduplicated=true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38912" y="4855464"/>
            <a:ext cx="822960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00" b="0">
                <a:solidFill>
                  <a:srgbClr val="667D8C"/>
                </a:solidFill>
                <a:latin typeface="Calibri"/>
              </a:rPr>
              <a:t>Saved prompts: docs/demo/01_oee.txt · 02_rca.txt · 03_action.txt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8" title="timer 1 min cowsswedededexeco cli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Rounded Rectangle 85"/>
          <p:cNvSpPr/>
          <p:nvPr/>
        </p:nvSpPr>
        <p:spPr>
          <a:xfrm>
            <a:off x="512064" y="4261104"/>
            <a:ext cx="8119872" cy="493776"/>
          </a:xfrm>
          <a:prstGeom prst="roundRect">
            <a:avLst/>
          </a:prstGeom>
          <a:solidFill>
            <a:srgbClr val="07131E"/>
          </a:solidFill>
          <a:ln w="12700">
            <a:solidFill>
              <a:srgbClr val="294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94944" y="4407408"/>
            <a:ext cx="7735824" cy="2103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000" b="1">
                <a:solidFill>
                  <a:srgbClr val="31D7C5"/>
                </a:solidFill>
                <a:latin typeface="Calibri"/>
              </a:rPr>
              <a:t>LIVE  </a:t>
            </a:r>
            <a:r>
              <a:rPr sz="1000" b="1">
                <a:solidFill>
                  <a:srgbClr val="F4FAFD"/>
                </a:solidFill>
                <a:latin typeface="Calibri"/>
                <a:hlinkClick r:id="rId4"/>
              </a:rPr>
              <a:t>TRIDENT OPS</a:t>
            </a:r>
            <a:r>
              <a:rPr sz="1000" b="1">
                <a:solidFill>
                  <a:srgbClr val="36A9E1"/>
                </a:solidFill>
                <a:latin typeface="Calibri"/>
              </a:rPr>
              <a:t>     CODE  </a:t>
            </a:r>
            <a:r>
              <a:rPr sz="1000" b="0">
                <a:solidFill>
                  <a:srgbClr val="F4FAFD"/>
                </a:solidFill>
                <a:latin typeface="Calibri"/>
                <a:hlinkClick r:id="rId5"/>
              </a:rPr>
              <a:t>github.com/ashokjangam/snowcore-pdm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417320" y="4773168"/>
            <a:ext cx="630936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4FAFD"/>
                </a:solidFill>
                <a:latin typeface="Calibri"/>
              </a:rPr>
              <a:t>Compute. Explain. Act. Admit what the evidence cannot prove.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