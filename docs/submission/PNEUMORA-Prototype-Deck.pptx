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hyperlink" Target="https://hack2skill.com/event/cococlihack-gccedition/dashboard/team-management?utm_source=hack2skill&amp;utm_medium=homepage" TargetMode="External"/><Relationship Id="rId5" Type="http://schemas.openxmlformats.org/officeDocument/2006/relationships/hyperlink" Target="https://www.linkedin.com/in/jangam-ashok-53a95812b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hyperlink" Target="https://app.snowflake.com/streamlit/FMXJOWH/BRC04642/#/apps/df4d72ofa3zbhz6wswdh" TargetMode="External"/><Relationship Id="rId5" Type="http://schemas.openxmlformats.org/officeDocument/2006/relationships/hyperlink" Target="https://github.com/ashokjangam/snowcore-pdm/tree/feat/pneumora-metrop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TextBox 54"/>
          <p:cNvSpPr txBox="1"/>
          <p:nvPr/>
        </p:nvSpPr>
        <p:spPr>
          <a:xfrm>
            <a:off x="6144768" y="2999232"/>
            <a:ext cx="254203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0A5CA8"/>
                </a:solidFill>
                <a:latin typeface="Cambria"/>
              </a:rPr>
              <a:t>PNEUMORA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53912" y="3456432"/>
            <a:ext cx="250545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0C1822"/>
                </a:solidFill>
                <a:latin typeface="Calibri"/>
              </a:rPr>
              <a:t>EARLY AIR-LEAK PREDICTION ON REAL COMPRESSOR SENSORS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3145536"/>
            <a:ext cx="5120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Team Name: </a:t>
            </a:r>
            <a:r>
              <a:rPr sz="1300" b="1">
                <a:solidFill>
                  <a:srgbClr val="0A5CA8"/>
                </a:solidFill>
                <a:latin typeface="Calibri"/>
                <a:hlinkClick r:id="rId4"/>
              </a:rPr>
              <a:t>TRidents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" y="3493008"/>
            <a:ext cx="512064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Team Leader: </a:t>
            </a:r>
            <a:r>
              <a:rPr sz="1300" b="1">
                <a:solidFill>
                  <a:srgbClr val="0A5CA8"/>
                </a:solidFill>
                <a:latin typeface="Calibri"/>
                <a:hlinkClick r:id="rId5"/>
              </a:rPr>
              <a:t>Ashok Jangam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" y="3840480"/>
            <a:ext cx="512064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Team Size: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" y="4187952"/>
            <a:ext cx="81838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Problem Statement: Predictive Maintenance and OEE Command Center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8912" y="4617720"/>
            <a:ext cx="8183879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0A5CA8"/>
                </a:solidFill>
                <a:latin typeface="Calibri"/>
              </a:rPr>
              <a:t>Nine real failures. Three compressors. A breakdown predicted hours ahead.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438912" y="457200"/>
            <a:ext cx="4937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01 · PROBLEM BRIEF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0624" y="694944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C1822"/>
                </a:solidFill>
                <a:latin typeface="Cambria"/>
              </a:rPr>
              <a:t>A leaking compressor takes a train out of service.</a:t>
            </a:r>
          </a:p>
        </p:txBody>
      </p:sp>
      <p:sp>
        <p:nvSpPr>
          <p:cNvPr id="66" name="Oval 65"/>
          <p:cNvSpPr/>
          <p:nvPr/>
        </p:nvSpPr>
        <p:spPr>
          <a:xfrm>
            <a:off x="594360" y="1417320"/>
            <a:ext cx="2057400" cy="2057400"/>
          </a:xfrm>
          <a:prstGeom prst="ellipse">
            <a:avLst/>
          </a:prstGeom>
          <a:solidFill>
            <a:srgbClr val="102C3A"/>
          </a:solidFill>
          <a:ln w="17780">
            <a:solidFill>
              <a:srgbClr val="3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69848" y="1700784"/>
            <a:ext cx="10972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31D7C5"/>
                </a:solidFill>
                <a:latin typeface="Calibri"/>
              </a:rPr>
              <a:t>REAL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9536" y="2103120"/>
            <a:ext cx="1536192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F4FAFD"/>
                </a:solidFill>
                <a:latin typeface="Calibri"/>
              </a:rPr>
              <a:t>MetroPT sensors
pressure · current
oil temp · load</a:t>
            </a:r>
          </a:p>
        </p:txBody>
      </p:sp>
      <p:sp>
        <p:nvSpPr>
          <p:cNvPr id="69" name="Oval 68"/>
          <p:cNvSpPr/>
          <p:nvPr/>
        </p:nvSpPr>
        <p:spPr>
          <a:xfrm>
            <a:off x="6473952" y="1417320"/>
            <a:ext cx="2057400" cy="2057400"/>
          </a:xfrm>
          <a:prstGeom prst="ellipse">
            <a:avLst/>
          </a:prstGeom>
          <a:solidFill>
            <a:srgbClr val="2E2513"/>
          </a:solidFill>
          <a:ln w="1778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48272" y="1700784"/>
            <a:ext cx="15087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F2B84B"/>
                </a:solidFill>
                <a:latin typeface="Calibri"/>
              </a:rPr>
              <a:t>LABELLED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11696" y="2103120"/>
            <a:ext cx="1600200" cy="7680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F4FAFD"/>
                </a:solidFill>
                <a:latin typeface="Calibri"/>
              </a:rPr>
              <a:t>synthetic work orders
parts · crew
example-factory OEE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182112" y="1554480"/>
            <a:ext cx="2788920" cy="1737360"/>
          </a:xfrm>
          <a:prstGeom prst="rect">
            <a:avLst/>
          </a:prstGeom>
          <a:solidFill>
            <a:srgbClr val="1A1D22"/>
          </a:solidFill>
          <a:ln w="12700">
            <a:solidFill>
              <a:srgbClr val="EF6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10128" y="1700784"/>
            <a:ext cx="253288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EF6A72"/>
                </a:solidFill>
                <a:latin typeface="Calibri"/>
              </a:rPr>
              <a:t>EXISTING ALARM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0128" y="2029968"/>
            <a:ext cx="2532888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3000" b="1">
                <a:solidFill>
                  <a:srgbClr val="F4FAFD"/>
                </a:solidFill>
                <a:latin typeface="Calibri"/>
              </a:rPr>
              <a:t>3 of 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10128" y="2596896"/>
            <a:ext cx="2532888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A5B7C3"/>
                </a:solidFill>
                <a:latin typeface="Calibri"/>
              </a:rPr>
              <a:t>air leaks flagged ≥ 2 h before removal
0.49 false alerts per healthy day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3730752"/>
            <a:ext cx="14630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31D7C5"/>
                </a:solidFill>
                <a:latin typeface="Calibri"/>
              </a:rPr>
              <a:t>Same asset, one thread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03120" y="3621024"/>
            <a:ext cx="644652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0C1822"/>
                </a:solidFill>
                <a:latin typeface="Calibri"/>
              </a:rPr>
              <a:t>PNEUMORA reads the compressor’s real sensor streams, predicts 6 of 7 air-leak breakdowns hours ahead with about a ninth of the alarm’s false alerts, and turns each one into a cited, recorded maintenance decision.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8912" y="4855464"/>
            <a:ext cx="82296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67D8C"/>
                </a:solidFill>
                <a:latin typeface="Calibri"/>
              </a:rPr>
              <a:t>Sources: MetroPT-3 DOI 10.24432/C5VW3R · MetroPT 2022 Zenodo 6854240 · MetroPT-2 Zenodo 7766691 · 9 documented 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38912" y="457200"/>
            <a:ext cx="4937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02 · ARCHITECTURE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0624" y="694944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C1822"/>
                </a:solidFill>
                <a:latin typeface="Cambria"/>
              </a:rPr>
              <a:t>Raw sensor cycles in. A recorded decision out.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75488" y="1371600"/>
            <a:ext cx="1508760" cy="1024128"/>
          </a:xfrm>
          <a:prstGeom prst="roundRect">
            <a:avLst/>
          </a:prstGeom>
          <a:solidFill>
            <a:srgbClr val="102C3A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1572768"/>
            <a:ext cx="13258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1D7C5"/>
                </a:solidFill>
                <a:latin typeface="Calibri"/>
              </a:rPr>
              <a:t>MetroPT raw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1911095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1 Hz / 10 s · 3 units</a:t>
            </a:r>
          </a:p>
        </p:txBody>
      </p:sp>
      <p:sp>
        <p:nvSpPr>
          <p:cNvPr id="75" name="Chevron 74"/>
          <p:cNvSpPr/>
          <p:nvPr/>
        </p:nvSpPr>
        <p:spPr>
          <a:xfrm>
            <a:off x="2103120" y="1773936"/>
            <a:ext cx="329184" cy="219456"/>
          </a:xfrm>
          <a:prstGeom prst="chevron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2578608" y="1243584"/>
            <a:ext cx="1965960" cy="1298448"/>
          </a:xfrm>
          <a:prstGeom prst="roundRect">
            <a:avLst/>
          </a:prstGeom>
          <a:solidFill>
            <a:srgbClr val="122431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88920" y="1481328"/>
            <a:ext cx="15361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36A9E1"/>
                </a:solidFill>
                <a:latin typeface="Calibri"/>
              </a:rPr>
              <a:t>CORE + ML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97480" y="1828800"/>
            <a:ext cx="1737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cycle physics · 5-min telemetry
ANOMALY_DETECTION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75488" y="3127248"/>
            <a:ext cx="1508760" cy="1024128"/>
          </a:xfrm>
          <a:prstGeom prst="roundRect">
            <a:avLst/>
          </a:prstGeom>
          <a:solidFill>
            <a:srgbClr val="2E2513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0352" y="3346704"/>
            <a:ext cx="139903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2B84B"/>
                </a:solidFill>
                <a:latin typeface="Calibri"/>
              </a:rPr>
              <a:t>Synthetic CMMS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3685032"/>
            <a:ext cx="13258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labelled, same asset</a:t>
            </a:r>
          </a:p>
        </p:txBody>
      </p:sp>
      <p:sp>
        <p:nvSpPr>
          <p:cNvPr id="82" name="Chevron 81"/>
          <p:cNvSpPr/>
          <p:nvPr/>
        </p:nvSpPr>
        <p:spPr>
          <a:xfrm>
            <a:off x="2103120" y="3529584"/>
            <a:ext cx="329184" cy="219456"/>
          </a:xfrm>
          <a:prstGeom prst="chevron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578608" y="2999232"/>
            <a:ext cx="1965960" cy="1298448"/>
          </a:xfrm>
          <a:prstGeom prst="roundRect">
            <a:avLst/>
          </a:prstGeom>
          <a:solidFill>
            <a:srgbClr val="282316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88920" y="3236976"/>
            <a:ext cx="1536192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2B84B"/>
                </a:solidFill>
                <a:latin typeface="Calibri"/>
              </a:rPr>
              <a:t>OPS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97480" y="3584448"/>
            <a:ext cx="173736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work orders · parts · crew
ACTION_LOG</a:t>
            </a:r>
          </a:p>
        </p:txBody>
      </p:sp>
      <p:sp>
        <p:nvSpPr>
          <p:cNvPr id="86" name="Chevron 85"/>
          <p:cNvSpPr/>
          <p:nvPr/>
        </p:nvSpPr>
        <p:spPr>
          <a:xfrm>
            <a:off x="4718304" y="2176272"/>
            <a:ext cx="384048" cy="237744"/>
          </a:xfrm>
          <a:prstGeom prst="chevron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Chevron 86"/>
          <p:cNvSpPr/>
          <p:nvPr/>
        </p:nvSpPr>
        <p:spPr>
          <a:xfrm>
            <a:off x="4718304" y="2999232"/>
            <a:ext cx="384048" cy="237744"/>
          </a:xfrm>
          <a:prstGeom prst="chevron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266944" y="1335024"/>
            <a:ext cx="3364992" cy="2761488"/>
          </a:xfrm>
          <a:prstGeom prst="roundRect">
            <a:avLst/>
          </a:prstGeom>
          <a:solidFill>
            <a:srgbClr val="0E2029"/>
          </a:solidFill>
          <a:ln w="12700">
            <a:solidFill>
              <a:srgbClr val="3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486400" y="1554480"/>
            <a:ext cx="2926080" cy="3017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200" b="1">
                <a:solidFill>
                  <a:srgbClr val="F4FAFD"/>
                </a:solidFill>
                <a:latin typeface="Calibri"/>
              </a:rPr>
              <a:t>PNEUMORA app</a:t>
            </a:r>
          </a:p>
        </p:txBody>
      </p:sp>
      <p:sp>
        <p:nvSpPr>
          <p:cNvPr id="90" name="Oval 89"/>
          <p:cNvSpPr/>
          <p:nvPr/>
        </p:nvSpPr>
        <p:spPr>
          <a:xfrm>
            <a:off x="5504688" y="2212848"/>
            <a:ext cx="804672" cy="804672"/>
          </a:xfrm>
          <a:prstGeom prst="ellipse">
            <a:avLst/>
          </a:prstGeom>
          <a:solidFill>
            <a:srgbClr val="122431"/>
          </a:solidFill>
          <a:ln w="17780">
            <a:solidFill>
              <a:srgbClr val="36A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13831" y="2523744"/>
            <a:ext cx="78638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36A9E1"/>
                </a:solidFill>
                <a:latin typeface="Calibri"/>
              </a:rPr>
              <a:t>PREDICT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31536" y="3090672"/>
            <a:ext cx="95097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leak physics +
native ML</a:t>
            </a:r>
          </a:p>
        </p:txBody>
      </p:sp>
      <p:sp>
        <p:nvSpPr>
          <p:cNvPr id="93" name="Oval 92"/>
          <p:cNvSpPr/>
          <p:nvPr/>
        </p:nvSpPr>
        <p:spPr>
          <a:xfrm>
            <a:off x="6492240" y="2212848"/>
            <a:ext cx="804672" cy="804672"/>
          </a:xfrm>
          <a:prstGeom prst="ellipse">
            <a:avLst/>
          </a:prstGeom>
          <a:solidFill>
            <a:srgbClr val="122431"/>
          </a:solidFill>
          <a:ln w="17780">
            <a:solidFill>
              <a:srgbClr val="3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01383" y="2523744"/>
            <a:ext cx="78638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31D7C5"/>
                </a:solidFill>
                <a:latin typeface="Calibri"/>
              </a:rPr>
              <a:t>EXPLAIN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19088" y="3090672"/>
            <a:ext cx="95097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AI_COMPLETE,
typed + cited</a:t>
            </a:r>
          </a:p>
        </p:txBody>
      </p:sp>
      <p:sp>
        <p:nvSpPr>
          <p:cNvPr id="96" name="Oval 95"/>
          <p:cNvSpPr/>
          <p:nvPr/>
        </p:nvSpPr>
        <p:spPr>
          <a:xfrm>
            <a:off x="7479792" y="2212848"/>
            <a:ext cx="804672" cy="804672"/>
          </a:xfrm>
          <a:prstGeom prst="ellipse">
            <a:avLst/>
          </a:prstGeom>
          <a:solidFill>
            <a:srgbClr val="122431"/>
          </a:solidFill>
          <a:ln w="1778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88936" y="2523744"/>
            <a:ext cx="786384" cy="14630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F2B84B"/>
                </a:solidFill>
                <a:latin typeface="Calibri"/>
              </a:rPr>
              <a:t>ACT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06640" y="3090672"/>
            <a:ext cx="95097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0">
                <a:solidFill>
                  <a:srgbClr val="A5B7C3"/>
                </a:solidFill>
                <a:latin typeface="Calibri"/>
              </a:rPr>
              <a:t>idempotent
MERGE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77840" y="3703320"/>
            <a:ext cx="2743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31D7C5"/>
                </a:solidFill>
                <a:latin typeface="Calibri"/>
              </a:rPr>
              <a:t>PNEUMORA.OPS.RECORD_ACTION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8912" y="4855464"/>
            <a:ext cx="82296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67D8C"/>
                </a:solidFill>
                <a:latin typeface="Calibri"/>
              </a:rPr>
              <a:t>Snowflake: warehouse-runtime Streamlit · SNOWFLAKE.ML.ANOMALY_DETECTION · Cortex AI_COMPLETE · SQL procedure · isolated PNEUMORA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38912" y="457200"/>
            <a:ext cx="4937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03 · MEASURED RESULTS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0624" y="694944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C1822"/>
                </a:solidFill>
                <a:latin typeface="Cambria"/>
              </a:rPr>
              <a:t>It predicts the breakdown hours ahead. Promoted.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02920" y="1353312"/>
            <a:ext cx="2514600" cy="1325880"/>
          </a:xfrm>
          <a:prstGeom prst="roundRect">
            <a:avLst/>
          </a:prstGeom>
          <a:solidFill>
            <a:srgbClr val="122431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9224" y="1463040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>
                <a:solidFill>
                  <a:srgbClr val="31D7C5"/>
                </a:solidFill>
                <a:latin typeface="Calibri"/>
              </a:rPr>
              <a:t>6 of 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9224" y="1892807"/>
            <a:ext cx="22219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4FAFD"/>
                </a:solidFill>
                <a:latin typeface="Calibri"/>
              </a:rPr>
              <a:t>Air leaks predicted ≥ 2 h ahead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224" y="2157984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5B7C3"/>
                </a:solidFill>
                <a:latin typeface="Calibri"/>
              </a:rPr>
              <a:t>Held out by compressor · existing alarm 3 of 7 · 0.056 vs 0.49 false alerts/day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310128" y="1353312"/>
            <a:ext cx="2514600" cy="1325880"/>
          </a:xfrm>
          <a:prstGeom prst="roundRect">
            <a:avLst/>
          </a:prstGeom>
          <a:solidFill>
            <a:srgbClr val="122431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56432" y="1463040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>
                <a:solidFill>
                  <a:srgbClr val="36A9E1"/>
                </a:solidFill>
                <a:latin typeface="Calibri"/>
              </a:rPr>
              <a:t>5.8 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56432" y="1892807"/>
            <a:ext cx="22219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4FAFD"/>
                </a:solidFill>
                <a:latin typeface="Calibri"/>
              </a:rPr>
              <a:t>Median warning before removal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56432" y="2157984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5B7C3"/>
                </a:solidFill>
                <a:latin typeface="Calibri"/>
              </a:rPr>
              <a:t>PROMOTED_CROSS_VALIDATED · all five pre-declared gates passed · chance p = 3e-7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117336" y="1353312"/>
            <a:ext cx="2514600" cy="1325880"/>
          </a:xfrm>
          <a:prstGeom prst="roundRect">
            <a:avLst/>
          </a:prstGeom>
          <a:solidFill>
            <a:srgbClr val="122431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63640" y="1463040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1">
                <a:solidFill>
                  <a:srgbClr val="F2B84B"/>
                </a:solidFill>
                <a:latin typeface="Calibri"/>
              </a:rPr>
              <a:t>1 of 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63640" y="1892807"/>
            <a:ext cx="22219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F4FAFD"/>
                </a:solidFill>
                <a:latin typeface="Calibri"/>
              </a:rPr>
              <a:t>Warned before the leak began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2157984"/>
            <a:ext cx="2221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A5B7C3"/>
                </a:solidFill>
                <a:latin typeface="Calibri"/>
              </a:rPr>
              <a:t>Leaks start abruptly · best of six approaches · it predicts the breakdown, not the leak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6928" y="2990088"/>
            <a:ext cx="27432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Snowflake native ML + gradual leaks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3346704"/>
            <a:ext cx="2560320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087F72"/>
                </a:solidFill>
                <a:latin typeface="Calibri"/>
              </a:rPr>
              <a:t>ANOMALY_DETECTION: 4 of 4 in time. Injected 2× air-loss leak caught 28 of 30 (control 7).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10128" y="2990088"/>
            <a:ext cx="2523744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What we generated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10128" y="3346704"/>
            <a:ext cx="2523744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B07400"/>
                </a:solidFill>
                <a:latin typeface="Calibri"/>
              </a:rPr>
              <a:t>Replayed onsets and physics-injected leaks, all SYNTHETIC_TRAINING_ONLY, never used to score.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2990088"/>
            <a:ext cx="2450592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0C1822"/>
                </a:solidFill>
                <a:latin typeface="Calibri"/>
              </a:rPr>
              <a:t>Caveats we show on screen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26480" y="3346704"/>
            <a:ext cx="2450592" cy="7498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EF6A72"/>
                </a:solidFill>
                <a:latin typeface="Calibri"/>
              </a:rPr>
              <a:t>Protocol v2 written after v1 failed on false alerts; no untouched data left. No oil leaks, RUL or savings.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8912" y="4855464"/>
            <a:ext cx="82296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67D8C"/>
                </a:solidFill>
                <a:latin typeface="Calibri"/>
              </a:rPr>
              <a:t>Predicted = alert from 2 h before leak start to 2 h before reported end (dataset owners’ protocol) · settings chosen on the other two compressors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Box 79"/>
          <p:cNvSpPr txBox="1"/>
          <p:nvPr/>
        </p:nvSpPr>
        <p:spPr>
          <a:xfrm>
            <a:off x="438912" y="457200"/>
            <a:ext cx="493776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04 · END-TO-END COCO CLI WORKFLOW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624" y="694944"/>
            <a:ext cx="81381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0C1822"/>
                </a:solidFill>
                <a:latin typeface="Cambria"/>
              </a:rPr>
              <a:t>The 4-minute proof: predict → explain → act</a:t>
            </a:r>
          </a:p>
        </p:txBody>
      </p:sp>
      <p:sp>
        <p:nvSpPr>
          <p:cNvPr id="82" name="Oval 81"/>
          <p:cNvSpPr/>
          <p:nvPr/>
        </p:nvSpPr>
        <p:spPr>
          <a:xfrm>
            <a:off x="566928" y="1517904"/>
            <a:ext cx="621792" cy="621792"/>
          </a:xfrm>
          <a:prstGeom prst="ellipse">
            <a:avLst/>
          </a:prstGeom>
          <a:solidFill>
            <a:srgbClr val="36A9E1"/>
          </a:solidFill>
          <a:ln w="17780">
            <a:solidFill>
              <a:srgbClr val="36A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1664208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0C1822"/>
                </a:solidFill>
                <a:latin typeface="Calibri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53312" y="1572768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6A9E1"/>
                </a:solidFill>
                <a:latin typeface="Calibri"/>
              </a:rPr>
              <a:t>PREDICT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2377440"/>
            <a:ext cx="2350008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C1822"/>
                </a:solidFill>
                <a:latin typeface="Calibri"/>
              </a:rPr>
              <a:t>CoCo reads failures, alerts and native-ML results. The app shows the held-out prediction record.</a:t>
            </a:r>
          </a:p>
        </p:txBody>
      </p:sp>
      <p:sp>
        <p:nvSpPr>
          <p:cNvPr id="86" name="Chevron 85"/>
          <p:cNvSpPr/>
          <p:nvPr/>
        </p:nvSpPr>
        <p:spPr>
          <a:xfrm>
            <a:off x="2953512" y="1847088"/>
            <a:ext cx="292608" cy="201168"/>
          </a:xfrm>
          <a:prstGeom prst="chevron">
            <a:avLst/>
          </a:prstGeom>
          <a:solidFill>
            <a:srgbClr val="36A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401568" y="1517904"/>
            <a:ext cx="621792" cy="621792"/>
          </a:xfrm>
          <a:prstGeom prst="ellipse">
            <a:avLst/>
          </a:prstGeom>
          <a:solidFill>
            <a:srgbClr val="31D7C5"/>
          </a:solidFill>
          <a:ln w="17780">
            <a:solidFill>
              <a:srgbClr val="31D7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01568" y="1664208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0C1822"/>
                </a:solidFill>
                <a:latin typeface="Calibri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87952" y="1572768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1D7C5"/>
                </a:solidFill>
                <a:latin typeface="Calibri"/>
              </a:rPr>
              <a:t>EXPLAIN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01568" y="2377440"/>
            <a:ext cx="2350008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C1822"/>
                </a:solidFill>
                <a:latin typeface="Calibri"/>
              </a:rPr>
              <a:t>Observed F04 facts go to Cortex. Every number cites its field; no invented parts.</a:t>
            </a:r>
          </a:p>
        </p:txBody>
      </p:sp>
      <p:sp>
        <p:nvSpPr>
          <p:cNvPr id="91" name="Chevron 90"/>
          <p:cNvSpPr/>
          <p:nvPr/>
        </p:nvSpPr>
        <p:spPr>
          <a:xfrm>
            <a:off x="5788152" y="1847088"/>
            <a:ext cx="292608" cy="201168"/>
          </a:xfrm>
          <a:prstGeom prst="chevron">
            <a:avLst/>
          </a:prstGeom>
          <a:solidFill>
            <a:srgbClr val="31D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236208" y="1517904"/>
            <a:ext cx="621792" cy="621792"/>
          </a:xfrm>
          <a:prstGeom prst="ellipse">
            <a:avLst/>
          </a:prstGeom>
          <a:solidFill>
            <a:srgbClr val="F2B84B"/>
          </a:solidFill>
          <a:ln w="17780">
            <a:solidFill>
              <a:srgbClr val="F2B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36208" y="1664208"/>
            <a:ext cx="621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0C1822"/>
                </a:solidFill>
                <a:latin typeface="Calibri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2592" y="1572768"/>
            <a:ext cx="15544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F2B84B"/>
                </a:solidFill>
                <a:latin typeface="Calibri"/>
              </a:rPr>
              <a:t>ACT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36208" y="2377440"/>
            <a:ext cx="2350008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0C1822"/>
                </a:solidFill>
                <a:latin typeface="Calibri"/>
              </a:rPr>
              <a:t>The crew opens an inspection. A Snowflake MERGE writes one reload-safe row.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60120" y="3803904"/>
            <a:ext cx="7223760" cy="566928"/>
          </a:xfrm>
          <a:prstGeom prst="roundRect">
            <a:avLst/>
          </a:prstGeom>
          <a:solidFill>
            <a:srgbClr val="151F26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70432" y="3968496"/>
            <a:ext cx="129844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31D7C5"/>
                </a:solidFill>
                <a:latin typeface="Calibri"/>
              </a:rPr>
              <a:t>BLACK-BOX RESULT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42032" y="3913632"/>
            <a:ext cx="52578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400" b="1">
                <a:solidFill>
                  <a:srgbClr val="F4FAFD"/>
                </a:solidFill>
                <a:latin typeface="Calibri"/>
              </a:rPr>
              <a:t>same decision → same action id → second call deduplicated=true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8912" y="4855464"/>
            <a:ext cx="8229600" cy="1554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700" b="0">
                <a:solidFill>
                  <a:srgbClr val="667D8C"/>
                </a:solidFill>
                <a:latin typeface="Calibri"/>
              </a:rPr>
              <a:t>Saved prompts: docs/demo/01_detect.txt · 02_rca.txt · 03_action.txt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Rounded Rectangle 85"/>
          <p:cNvSpPr/>
          <p:nvPr/>
        </p:nvSpPr>
        <p:spPr>
          <a:xfrm>
            <a:off x="512064" y="4261104"/>
            <a:ext cx="8119872" cy="493776"/>
          </a:xfrm>
          <a:prstGeom prst="roundRect">
            <a:avLst/>
          </a:prstGeom>
          <a:solidFill>
            <a:srgbClr val="07131E"/>
          </a:solidFill>
          <a:ln w="12700">
            <a:solidFill>
              <a:srgbClr val="294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4944" y="4407408"/>
            <a:ext cx="7735824" cy="2103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1">
                <a:solidFill>
                  <a:srgbClr val="31D7C5"/>
                </a:solidFill>
                <a:latin typeface="Calibri"/>
              </a:rPr>
              <a:t>LIVE  </a:t>
            </a:r>
            <a:r>
              <a:rPr sz="1000" b="1">
                <a:solidFill>
                  <a:srgbClr val="F4FAFD"/>
                </a:solidFill>
                <a:latin typeface="Calibri"/>
                <a:hlinkClick r:id="rId4"/>
              </a:rPr>
              <a:t>PNEUMORA</a:t>
            </a:r>
            <a:r>
              <a:rPr sz="1000" b="1">
                <a:solidFill>
                  <a:srgbClr val="36A9E1"/>
                </a:solidFill>
                <a:latin typeface="Calibri"/>
              </a:rPr>
              <a:t>     CODE  </a:t>
            </a:r>
            <a:r>
              <a:rPr sz="1000" b="0">
                <a:solidFill>
                  <a:srgbClr val="F4FAFD"/>
                </a:solidFill>
                <a:latin typeface="Calibri"/>
                <a:hlinkClick r:id="rId5"/>
              </a:rPr>
              <a:t>github.com/ashokjangam/snowcore-pdm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97280" y="4773168"/>
            <a:ext cx="69494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4FAFD"/>
                </a:solidFill>
                <a:latin typeface="Calibri"/>
              </a:rPr>
              <a:t>Predict the breakdown. Explain with evidence. Record the decision. Say where prediction 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